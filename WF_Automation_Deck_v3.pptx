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JIRA Tickets</c:v>
                </c:pt>
              </c:strCache>
            </c:strRef>
          </c:tx>
          <c:spPr>
            <a:solidFill>
              <a:srgbClr val="D71E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2025</c:v>
                  </c:pt>
                  <c:pt idx="1">
                    <c:v>Q2 2025</c:v>
                  </c:pt>
                  <c:pt idx="2">
                    <c:v>Q3 2025</c:v>
                  </c:pt>
                  <c:pt idx="3">
                    <c:v>Q4 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52</c:v>
                </c:pt>
                <c:pt idx="2">
                  <c:v>120</c:v>
                </c:pt>
                <c:pt idx="3">
                  <c:v>164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9F9F9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FCCC44"/>
          </a:solidFill>
          <a:ln w="12700">
            <a:solidFill>
              <a:srgbClr val="FCCC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– Benefit Realization Snapshot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PDILL  |  IAM  |  CVP  |  Executive Summary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3977640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389888"/>
            <a:ext cx="3977640" cy="18288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179576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11612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PCI Detection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1664208"/>
            <a:ext cx="3703320" cy="566928"/>
          </a:xfrm>
          <a:prstGeom prst="roundRect">
            <a:avLst>
              <a:gd name="adj" fmla="val 11290"/>
            </a:avLst>
          </a:prstGeom>
          <a:solidFill>
            <a:srgbClr val="FDECEA"/>
          </a:solidFill>
          <a:ln w="12700">
            <a:solidFill>
              <a:srgbClr val="F5CAC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810512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8096" y="19751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Reduction  (6h → 2h/ticket)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20040" y="2322576"/>
            <a:ext cx="3703320" cy="566928"/>
          </a:xfrm>
          <a:prstGeom prst="roundRect">
            <a:avLst>
              <a:gd name="adj" fmla="val 11290"/>
            </a:avLst>
          </a:prstGeom>
          <a:solidFill>
            <a:srgbClr val="FDECEA"/>
          </a:solidFill>
          <a:ln w="12700">
            <a:solidFill>
              <a:srgbClr val="F5CAC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0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8096" y="2377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768096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Tickets  (723 Splunk findings)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20040" y="2980944"/>
            <a:ext cx="3703320" cy="566928"/>
          </a:xfrm>
          <a:prstGeom prst="roundRect">
            <a:avLst>
              <a:gd name="adj" fmla="val 11290"/>
            </a:avLst>
          </a:prstGeom>
          <a:solidFill>
            <a:srgbClr val="FDECEA"/>
          </a:solidFill>
          <a:ln w="12700">
            <a:solidFill>
              <a:srgbClr val="F5CAC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127248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96" y="3035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FTE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68096" y="32918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Unlocked  (~1,600 hrs/mo)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462272" y="1115568"/>
            <a:ext cx="4453128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462272" y="1115568"/>
            <a:ext cx="4453128" cy="457200"/>
          </a:xfrm>
          <a:prstGeom prst="roundRect">
            <a:avLst>
              <a:gd name="adj" fmla="val 20000"/>
            </a:avLst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62272" y="1389888"/>
            <a:ext cx="4453128" cy="182880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17957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37760" y="11612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PDiLL Certification Automation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553712" y="1664208"/>
            <a:ext cx="4178808" cy="566928"/>
          </a:xfrm>
          <a:prstGeom prst="roundRect">
            <a:avLst>
              <a:gd name="adj" fmla="val 11290"/>
            </a:avLst>
          </a:prstGeom>
          <a:solidFill>
            <a:srgbClr val="FFF8DC"/>
          </a:solidFill>
          <a:ln w="12700">
            <a:solidFill>
              <a:srgbClr val="F0DFA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1810512"/>
            <a:ext cx="246888" cy="2468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74336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700" dirty="0"/>
          </a:p>
        </p:txBody>
      </p:sp>
      <p:sp>
        <p:nvSpPr>
          <p:cNvPr id="31" name="Text 23"/>
          <p:cNvSpPr/>
          <p:nvPr/>
        </p:nvSpPr>
        <p:spPr>
          <a:xfrm>
            <a:off x="4974336" y="19751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Reduction  (40–60h → 8–10h/env)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4553712" y="2322576"/>
            <a:ext cx="4178808" cy="566928"/>
          </a:xfrm>
          <a:prstGeom prst="roundRect">
            <a:avLst>
              <a:gd name="adj" fmla="val 11290"/>
            </a:avLst>
          </a:prstGeom>
          <a:solidFill>
            <a:srgbClr val="FFF8DC"/>
          </a:solidFill>
          <a:ln w="12700">
            <a:solidFill>
              <a:srgbClr val="F0DFA0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468880"/>
            <a:ext cx="246888" cy="2468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974336" y="2377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4974336" y="26334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Tickets  (CT, 2025) standardized</a:t>
            </a:r>
            <a:endParaRPr lang="en-US" sz="850" dirty="0"/>
          </a:p>
        </p:txBody>
      </p:sp>
      <p:sp>
        <p:nvSpPr>
          <p:cNvPr id="36" name="Shape 27"/>
          <p:cNvSpPr/>
          <p:nvPr/>
        </p:nvSpPr>
        <p:spPr>
          <a:xfrm>
            <a:off x="4553712" y="2980944"/>
            <a:ext cx="4178808" cy="566928"/>
          </a:xfrm>
          <a:prstGeom prst="roundRect">
            <a:avLst>
              <a:gd name="adj" fmla="val 11290"/>
            </a:avLst>
          </a:prstGeom>
          <a:solidFill>
            <a:srgbClr val="FFF8DC"/>
          </a:solidFill>
          <a:ln w="12700">
            <a:solidFill>
              <a:srgbClr val="F0DFA0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3127248"/>
            <a:ext cx="246888" cy="24688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974336" y="3035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Teams</a:t>
            </a:r>
            <a:endParaRPr lang="en-US" sz="1700" dirty="0"/>
          </a:p>
        </p:txBody>
      </p:sp>
      <p:sp>
        <p:nvSpPr>
          <p:cNvPr id="39" name="Text 29"/>
          <p:cNvSpPr/>
          <p:nvPr/>
        </p:nvSpPr>
        <p:spPr>
          <a:xfrm>
            <a:off x="4974336" y="32918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CSBB &amp; AUTO Data  |  3 apps in progress</a:t>
            </a:r>
            <a:endParaRPr lang="en-US" sz="850" dirty="0"/>
          </a:p>
        </p:txBody>
      </p:sp>
      <p:sp>
        <p:nvSpPr>
          <p:cNvPr id="40" name="Shape 30"/>
          <p:cNvSpPr/>
          <p:nvPr/>
        </p:nvSpPr>
        <p:spPr>
          <a:xfrm>
            <a:off x="228600" y="3749040"/>
            <a:ext cx="8686800" cy="731520"/>
          </a:xfrm>
          <a:prstGeom prst="roundRect">
            <a:avLst>
              <a:gd name="adj" fmla="val 10000"/>
            </a:avLst>
          </a:prstGeom>
          <a:solidFill>
            <a:srgbClr val="FCCC44"/>
          </a:solidFill>
          <a:ln w="12700">
            <a:solidFill>
              <a:srgbClr val="E6A800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Text 31"/>
          <p:cNvSpPr/>
          <p:nvPr/>
        </p:nvSpPr>
        <p:spPr>
          <a:xfrm>
            <a:off x="502920" y="37673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~2,000+</a:t>
            </a:r>
            <a:endParaRPr lang="en-US" sz="1800" dirty="0"/>
          </a:p>
        </p:txBody>
      </p:sp>
      <p:sp>
        <p:nvSpPr>
          <p:cNvPr id="42" name="Text 32"/>
          <p:cNvSpPr/>
          <p:nvPr/>
        </p:nvSpPr>
        <p:spPr>
          <a:xfrm>
            <a:off x="502920" y="4078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hrs/month unlocked across both initiatives</a:t>
            </a:r>
            <a:endParaRPr lang="en-US" sz="850" dirty="0"/>
          </a:p>
        </p:txBody>
      </p:sp>
      <p:sp>
        <p:nvSpPr>
          <p:cNvPr id="43" name="Shape 33"/>
          <p:cNvSpPr/>
          <p:nvPr/>
        </p:nvSpPr>
        <p:spPr>
          <a:xfrm>
            <a:off x="3191256" y="3840480"/>
            <a:ext cx="0" cy="512064"/>
          </a:xfrm>
          <a:prstGeom prst="line">
            <a:avLst/>
          </a:prstGeom>
          <a:noFill/>
          <a:ln w="12700">
            <a:solidFill>
              <a:srgbClr val="E6A800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3337560" y="37673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~70–80%</a:t>
            </a:r>
            <a:endParaRPr lang="en-US" sz="1800" dirty="0"/>
          </a:p>
        </p:txBody>
      </p:sp>
      <p:sp>
        <p:nvSpPr>
          <p:cNvPr id="45" name="Text 35"/>
          <p:cNvSpPr/>
          <p:nvPr/>
        </p:nvSpPr>
        <p:spPr>
          <a:xfrm>
            <a:off x="3337560" y="4078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reduction per initiative</a:t>
            </a:r>
            <a:endParaRPr lang="en-US" sz="850" dirty="0"/>
          </a:p>
        </p:txBody>
      </p:sp>
      <p:sp>
        <p:nvSpPr>
          <p:cNvPr id="46" name="Shape 36"/>
          <p:cNvSpPr/>
          <p:nvPr/>
        </p:nvSpPr>
        <p:spPr>
          <a:xfrm>
            <a:off x="6025896" y="3840480"/>
            <a:ext cx="0" cy="512064"/>
          </a:xfrm>
          <a:prstGeom prst="line">
            <a:avLst/>
          </a:prstGeom>
          <a:noFill/>
          <a:ln w="12700">
            <a:solidFill>
              <a:srgbClr val="E6A800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172200" y="37673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months</a:t>
            </a:r>
            <a:endParaRPr lang="en-US" sz="1800" dirty="0"/>
          </a:p>
        </p:txBody>
      </p:sp>
      <p:sp>
        <p:nvSpPr>
          <p:cNvPr id="48" name="Text 38"/>
          <p:cNvSpPr/>
          <p:nvPr/>
        </p:nvSpPr>
        <p:spPr>
          <a:xfrm>
            <a:off x="6172200" y="4078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build time  |  weeks to payback</a:t>
            </a:r>
            <a:endParaRPr lang="en-US" sz="850" dirty="0"/>
          </a:p>
        </p:txBody>
      </p:sp>
      <p:sp>
        <p:nvSpPr>
          <p:cNvPr id="49" name="Shape 3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DECEA"/>
          </a:solidFill>
          <a:ln w="12700">
            <a:solidFill>
              <a:srgbClr val="E8DCDC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168" y="4672584"/>
            <a:ext cx="256032" cy="25603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548640" y="45994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PII detection left into development. PDiLL automating recurring compliance cycles. Together: unlocking FTE capacity and driving towards fully autonomous agent-led remediation.</a:t>
            </a:r>
            <a:endParaRPr lang="en-US" sz="950" dirty="0"/>
          </a:p>
        </p:txBody>
      </p:sp>
      <p:sp>
        <p:nvSpPr>
          <p:cNvPr id="53" name="Text 42"/>
          <p:cNvSpPr/>
          <p:nvPr/>
        </p:nvSpPr>
        <p:spPr>
          <a:xfrm>
            <a:off x="274320" y="5084064"/>
            <a:ext cx="859536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|  PDILL | IAM | CVP – Benefit Realization Snapshot  |  June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FCCC44"/>
          </a:solidFill>
          <a:ln w="12700">
            <a:solidFill>
              <a:srgbClr val="FCCC4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46304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914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Summary: PII / PCI Detection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– All Sub-LOBs  |  Shift-Left Approach  |  CI/CD Pipeline Enforcement  |  Agent-Driven Remediation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1168" y="1115568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F5CACA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1887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38328" y="1481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Reduced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38328" y="1664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 → 2 hrs per ticket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154680" y="1115568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F5CACA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1887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291840" y="1481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Tickets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291840" y="1664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723 Splunk findings processed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108192" y="1115568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FFF8DC"/>
          </a:solidFill>
          <a:ln w="12700">
            <a:solidFill>
              <a:srgbClr val="F0DFA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1887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11112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FTE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245352" y="1481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Unlocked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245352" y="1664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~1,600 hrs/month freed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01168" y="2148840"/>
            <a:ext cx="420624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347472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 Ticket  (Hours)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024128" y="2532888"/>
            <a:ext cx="3182112" cy="256032"/>
          </a:xfrm>
          <a:prstGeom prst="roundRect">
            <a:avLst>
              <a:gd name="adj" fmla="val 14286"/>
            </a:avLst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56032" y="25328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270248" y="2532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024128" y="2871216"/>
            <a:ext cx="1060704" cy="256032"/>
          </a:xfrm>
          <a:prstGeom prst="roundRect">
            <a:avLst>
              <a:gd name="adj" fmla="val 14286"/>
            </a:avLst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56032" y="28712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2148840" y="28712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47472" y="3264408"/>
            <a:ext cx="3877056" cy="603504"/>
          </a:xfrm>
          <a:prstGeom prst="roundRect">
            <a:avLst>
              <a:gd name="adj" fmla="val 9091"/>
            </a:avLst>
          </a:prstGeom>
          <a:solidFill>
            <a:srgbClr val="FFF5CC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75488" y="3291840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hrs saved per ticket  |  </a:t>
            </a:r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FTE unlocked  |  ~1,600 hrs/month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645152" y="2148840"/>
            <a:ext cx="4297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645152" y="2148840"/>
            <a:ext cx="54864" cy="877824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773168" y="2194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vs ROI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773168" y="2468880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months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4773168" y="2633472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resources for ~1 month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4773168" y="279806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— immediate capacity recovery within weeks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4645152" y="3108960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645152" y="3108960"/>
            <a:ext cx="54864" cy="932688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773168" y="3163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4773168" y="3447288"/>
            <a:ext cx="109728" cy="109728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956048" y="3429000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reduces downtime &amp; RTB effort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4773168" y="3625596"/>
            <a:ext cx="109728" cy="109728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4956048" y="360730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minimizes production defects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4773168" y="3803904"/>
            <a:ext cx="109728" cy="109728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956048" y="3785616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PII/PCI compliance posture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4773168" y="3982212"/>
            <a:ext cx="109728" cy="109728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956048" y="3963924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triage &amp; remediation work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201168" y="4133088"/>
            <a:ext cx="8741664" cy="621792"/>
          </a:xfrm>
          <a:prstGeom prst="roundRect">
            <a:avLst>
              <a:gd name="adj" fmla="val 11765"/>
            </a:avLst>
          </a:prstGeom>
          <a:solidFill>
            <a:srgbClr val="FDECEA"/>
          </a:solidFill>
          <a:ln w="12700">
            <a:solidFill>
              <a:srgbClr val="F5CACA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310896" y="416966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Roadmap →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1572768" y="4206240"/>
            <a:ext cx="1225296" cy="475488"/>
          </a:xfrm>
          <a:prstGeom prst="roundRect">
            <a:avLst>
              <a:gd name="adj" fmla="val 11538"/>
            </a:avLst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1572768" y="420624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Tickets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2816352" y="429768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3017520" y="4206240"/>
            <a:ext cx="1225296" cy="475488"/>
          </a:xfrm>
          <a:prstGeom prst="roundRect">
            <a:avLst>
              <a:gd name="adj" fmla="val 11538"/>
            </a:avLst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3017520" y="420624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Agent-Driven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4261104" y="429768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4462272" y="4206240"/>
            <a:ext cx="1225296" cy="475488"/>
          </a:xfrm>
          <a:prstGeom prst="roundRect">
            <a:avLst>
              <a:gd name="adj" fmla="val 11538"/>
            </a:avLst>
          </a:prstGeom>
          <a:solidFill>
            <a:srgbClr val="A3141C"/>
          </a:solidFill>
          <a:ln w="12700">
            <a:solidFill>
              <a:srgbClr val="A3141C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4462272" y="420624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5705856" y="429768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60" name="Shape 54"/>
          <p:cNvSpPr/>
          <p:nvPr/>
        </p:nvSpPr>
        <p:spPr>
          <a:xfrm>
            <a:off x="5907024" y="4206240"/>
            <a:ext cx="1225296" cy="475488"/>
          </a:xfrm>
          <a:prstGeom prst="roundRect">
            <a:avLst>
              <a:gd name="adj" fmla="val 11538"/>
            </a:avLst>
          </a:prstGeom>
          <a:solidFill>
            <a:srgbClr val="A3141C"/>
          </a:solidFill>
          <a:ln w="12700">
            <a:solidFill>
              <a:srgbClr val="A3141C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5907024" y="420624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7150608" y="429768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63" name="Shape 57"/>
          <p:cNvSpPr/>
          <p:nvPr/>
        </p:nvSpPr>
        <p:spPr>
          <a:xfrm>
            <a:off x="7351776" y="4206240"/>
            <a:ext cx="1225296" cy="475488"/>
          </a:xfrm>
          <a:prstGeom prst="roundRect">
            <a:avLst>
              <a:gd name="adj" fmla="val 11538"/>
            </a:avLst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7351776" y="420624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800" dirty="0"/>
          </a:p>
        </p:txBody>
      </p:sp>
      <p:sp>
        <p:nvSpPr>
          <p:cNvPr id="65" name="Shape 5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274320" y="486460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E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|  PII/PCI Automation  |  QA Engineering  |  Benefit Realization Snapshot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46304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914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Summary: PDiLL Certification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– All Sub-LOBs  |  Delphix Log Extraction  |  In Progress: 3 Applications  |  CSBB &amp; AUTO Data Teams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1168" y="1115568"/>
            <a:ext cx="2816352" cy="868680"/>
          </a:xfrm>
          <a:prstGeom prst="roundRect">
            <a:avLst>
              <a:gd name="adj" fmla="val 10526"/>
            </a:avLst>
          </a:prstGeom>
          <a:solidFill>
            <a:srgbClr val="FDECEA"/>
          </a:solidFill>
          <a:ln w="12700">
            <a:solidFill>
              <a:srgbClr val="F5CACA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1887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" y="11430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38328" y="1453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Reduced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38328" y="16367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40–60h → 8–10h per environment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154680" y="1115568"/>
            <a:ext cx="2816352" cy="868680"/>
          </a:xfrm>
          <a:prstGeom prst="roundRect">
            <a:avLst>
              <a:gd name="adj" fmla="val 10526"/>
            </a:avLst>
          </a:prstGeom>
          <a:solidFill>
            <a:srgbClr val="FFF8DC"/>
          </a:solidFill>
          <a:ln w="12700">
            <a:solidFill>
              <a:srgbClr val="F0DFA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18872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0" y="11430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291840" y="1453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Tickets (CT 2025)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291840" y="16367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audit reports generated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6108192" y="1115568"/>
            <a:ext cx="2816352" cy="868680"/>
          </a:xfrm>
          <a:prstGeom prst="roundRect">
            <a:avLst>
              <a:gd name="adj" fmla="val 10526"/>
            </a:avLst>
          </a:prstGeom>
          <a:solidFill>
            <a:srgbClr val="FDECEA"/>
          </a:solidFill>
          <a:ln w="12700">
            <a:solidFill>
              <a:srgbClr val="F5CACA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18872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11112" y="11430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10/37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245352" y="1453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Resolved Q1+Q2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245352" y="16367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4/23  |  Q2: 6/14 addressed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201168" y="2084832"/>
            <a:ext cx="312724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32918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 Application (Hours)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22960" y="2414016"/>
            <a:ext cx="1920240" cy="219456"/>
          </a:xfrm>
          <a:prstGeom prst="roundRect">
            <a:avLst>
              <a:gd name="adj" fmla="val 12500"/>
            </a:avLst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56032" y="241401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2798064" y="24140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~50h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822960" y="2724912"/>
            <a:ext cx="345643" cy="219456"/>
          </a:xfrm>
          <a:prstGeom prst="roundRect">
            <a:avLst>
              <a:gd name="adj" fmla="val 12500"/>
            </a:avLst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56032" y="27249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1223467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~9h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329184" y="29900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effort reduction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201168" y="3310128"/>
            <a:ext cx="3127248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01168" y="3310128"/>
            <a:ext cx="45720" cy="603504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29184" y="33741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329184" y="3593592"/>
            <a:ext cx="91440" cy="9144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75488" y="35661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</a:t>
            </a:r>
            <a:endParaRPr lang="en-US" sz="750" dirty="0"/>
          </a:p>
        </p:txBody>
      </p:sp>
      <p:sp>
        <p:nvSpPr>
          <p:cNvPr id="36" name="Shape 30"/>
          <p:cNvSpPr/>
          <p:nvPr/>
        </p:nvSpPr>
        <p:spPr>
          <a:xfrm>
            <a:off x="329184" y="3739896"/>
            <a:ext cx="91440" cy="9144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75488" y="371246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certification cycles</a:t>
            </a:r>
            <a:endParaRPr lang="en-US" sz="750" dirty="0"/>
          </a:p>
        </p:txBody>
      </p:sp>
      <p:sp>
        <p:nvSpPr>
          <p:cNvPr id="38" name="Shape 32"/>
          <p:cNvSpPr/>
          <p:nvPr/>
        </p:nvSpPr>
        <p:spPr>
          <a:xfrm>
            <a:off x="329184" y="3886200"/>
            <a:ext cx="91440" cy="9144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75488" y="38587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consistency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329184" y="4032504"/>
            <a:ext cx="91440" cy="9144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75488" y="400507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operational risk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201168" y="3986784"/>
            <a:ext cx="3127248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201168" y="3986784"/>
            <a:ext cx="45720" cy="603504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329184" y="40507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Roadmap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329184" y="4270248"/>
            <a:ext cx="91440" cy="91440"/>
          </a:xfrm>
          <a:prstGeom prst="ellipse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75488" y="424281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CT &amp; other LOBs</a:t>
            </a:r>
            <a:endParaRPr lang="en-US" sz="750" dirty="0"/>
          </a:p>
        </p:txBody>
      </p:sp>
      <p:sp>
        <p:nvSpPr>
          <p:cNvPr id="47" name="Shape 41"/>
          <p:cNvSpPr/>
          <p:nvPr/>
        </p:nvSpPr>
        <p:spPr>
          <a:xfrm>
            <a:off x="329184" y="4416552"/>
            <a:ext cx="91440" cy="91440"/>
          </a:xfrm>
          <a:prstGeom prst="ellipse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75488" y="438912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for all databases</a:t>
            </a:r>
            <a:endParaRPr lang="en-US" sz="750" dirty="0"/>
          </a:p>
        </p:txBody>
      </p:sp>
      <p:sp>
        <p:nvSpPr>
          <p:cNvPr id="49" name="Shape 43"/>
          <p:cNvSpPr/>
          <p:nvPr/>
        </p:nvSpPr>
        <p:spPr>
          <a:xfrm>
            <a:off x="329184" y="4562856"/>
            <a:ext cx="91440" cy="91440"/>
          </a:xfrm>
          <a:prstGeom prst="ellipse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475488" y="453542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production</a:t>
            </a:r>
            <a:endParaRPr lang="en-US" sz="750" dirty="0"/>
          </a:p>
        </p:txBody>
      </p:sp>
      <p:sp>
        <p:nvSpPr>
          <p:cNvPr id="51" name="Shape 45"/>
          <p:cNvSpPr/>
          <p:nvPr/>
        </p:nvSpPr>
        <p:spPr>
          <a:xfrm>
            <a:off x="329184" y="4709160"/>
            <a:ext cx="91440" cy="91440"/>
          </a:xfrm>
          <a:prstGeom prst="ellipse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475488" y="46817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rising Q3/Q4 volume</a:t>
            </a:r>
            <a:endParaRPr lang="en-US" sz="750" dirty="0"/>
          </a:p>
        </p:txBody>
      </p:sp>
      <p:sp>
        <p:nvSpPr>
          <p:cNvPr id="53" name="Text 47"/>
          <p:cNvSpPr/>
          <p:nvPr/>
        </p:nvSpPr>
        <p:spPr>
          <a:xfrm>
            <a:off x="3511296" y="2084832"/>
            <a:ext cx="5431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PDILL Annual Sustainment Review — JIRA Ticket Volume by Reviewer (2025)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11296" y="2350008"/>
          <a:ext cx="5431536" cy="1243584"/>
        </p:xfrm>
        <a:graphic>
          <a:graphicData uri="http://schemas.openxmlformats.org/drawingml/2006/table">
            <a:tbl>
              <a:tblPr/>
              <a:tblGrid>
                <a:gridCol w="658368"/>
                <a:gridCol w="475488"/>
                <a:gridCol w="566928"/>
                <a:gridCol w="438912"/>
                <a:gridCol w="621792"/>
                <a:gridCol w="502920"/>
                <a:gridCol w="585216"/>
                <a:gridCol w="475488"/>
                <a:gridCol w="566928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 V.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Heather B.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 F.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Kristina 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Lipsa 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Shawna B.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Sumit 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C4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C4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C4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C4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C44"/>
                    </a:solidFill>
                  </a:tcPr>
                </a:tc>
              </a:tr>
            </a:tbl>
          </a:graphicData>
        </a:graphic>
      </p:graphicFrame>
      <p:sp>
        <p:nvSpPr>
          <p:cNvPr id="55" name="Text 48"/>
          <p:cNvSpPr/>
          <p:nvPr/>
        </p:nvSpPr>
        <p:spPr>
          <a:xfrm>
            <a:off x="3511296" y="3630168"/>
            <a:ext cx="5431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 Growth — Grand Total per Quarter</a:t>
            </a:r>
            <a:endParaRPr lang="en-US" sz="950" dirty="0"/>
          </a:p>
        </p:txBody>
      </p:sp>
      <p:graphicFrame>
        <p:nvGraphicFramePr>
          <p:cNvPr id="56" name="Chart 0" descr=""/>
          <p:cNvGraphicFramePr/>
          <p:nvPr/>
        </p:nvGraphicFramePr>
        <p:xfrm>
          <a:off x="3511296" y="3858768"/>
          <a:ext cx="5431536" cy="1078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7" name="Shape 4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|  PDiLL Certification Automation  |  CSBB &amp; AUTO Data Teams  |  Non-Production Only  |  Benefit Realization Snapshot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– Benefit Realization | PDILL | IAM | CVP</dc:title>
  <dc:subject>PptxGenJS Presentation</dc:subject>
  <dc:creator>PptxGenJS</dc:creator>
  <cp:lastModifiedBy>PptxGenJS</cp:lastModifiedBy>
  <cp:revision>1</cp:revision>
  <dcterms:created xsi:type="dcterms:W3CDTF">2026-06-10T09:35:04Z</dcterms:created>
  <dcterms:modified xsi:type="dcterms:W3CDTF">2026-06-10T09:35:04Z</dcterms:modified>
</cp:coreProperties>
</file>