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3756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37560" y="0"/>
            <a:ext cx="54864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4023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FARGO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2926080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AA0020"/>
          </a:solidFill>
          <a:ln w="12700">
            <a:solidFill>
              <a:srgbClr val="FF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29260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Strategies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" y="3529584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AA0020"/>
          </a:solidFill>
          <a:ln w="12700">
            <a:solidFill>
              <a:srgbClr val="FF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352958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 Token Spend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" y="4133088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AA0020"/>
          </a:solidFill>
          <a:ln w="12700">
            <a:solidFill>
              <a:srgbClr val="FF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41330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 AI Output Quality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9144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Optimising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703320" y="1463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Token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703320" y="20116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Utilisation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3703320" y="2633472"/>
            <a:ext cx="109728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276148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guide to managing credit-based Copilot billing — practices to preserve budget without sacrificing engineering velocity.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03320" y="486460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Internal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Did This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04672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92624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9262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3840480" cy="3337560"/>
          </a:xfrm>
          <a:prstGeom prst="roundRect">
            <a:avLst>
              <a:gd name="adj" fmla="val 2740"/>
            </a:avLst>
          </a:prstGeom>
          <a:solidFill>
            <a:srgbClr val="FAF7F4"/>
          </a:solidFill>
          <a:ln w="12700">
            <a:solidFill>
              <a:srgbClr val="D8D0C8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463040"/>
            <a:ext cx="3840480" cy="402336"/>
          </a:xfrm>
          <a:prstGeom prst="rect">
            <a:avLst/>
          </a:prstGeom>
          <a:solidFill>
            <a:srgbClr val="EDE8E2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463040"/>
            <a:ext cx="3840480" cy="402336"/>
          </a:xfrm>
          <a:prstGeom prst="roundRect">
            <a:avLst>
              <a:gd name="adj" fmla="val 22727"/>
            </a:avLst>
          </a:prstGeom>
          <a:solidFill>
            <a:srgbClr val="EEEEEE">
              <a:alpha val="0"/>
            </a:srgbClr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5361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Pre June 2026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19385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Flat-Fee Model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" y="239572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Unlimited usage under a fixed monthly licence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907792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Brute-force prompting had no financial consequence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" y="3419856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Wide context windows, verbose outputs — no penalty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3931920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Teams had no incentive to optimise token spend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61104" y="288036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892040" y="1463040"/>
            <a:ext cx="3840480" cy="3337560"/>
          </a:xfrm>
          <a:prstGeom prst="roundRect">
            <a:avLst>
              <a:gd name="adj" fmla="val 2740"/>
            </a:avLst>
          </a:prstGeom>
          <a:solidFill>
            <a:srgbClr val="FDEAED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1463040"/>
            <a:ext cx="3840480" cy="402336"/>
          </a:xfrm>
          <a:prstGeom prst="rect">
            <a:avLst/>
          </a:prstGeom>
          <a:solidFill>
            <a:srgbClr val="F5D0D5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5361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·  From June 2026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74920" y="19385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Credit-Based Billing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74920" y="239572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Every token consumed counts against a finite credit pool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74920" y="2907792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Limits exhaust faster than teams expect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74920" y="3419856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Large contexts and verbose outputs drain budget quickly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74920" y="3931920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Efficient prompting is now mission-critical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  ·  PART 1 OF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the Models — Lightweight &amp; Mid-Tier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04672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92624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9262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8321040" cy="32918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517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441448" y="15179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30168" y="15179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56048" y="15179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Used For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013448" y="15179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Signal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1828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DA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1792224"/>
            <a:ext cx="8321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18653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Haiku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441448" y="18653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30168" y="1920240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0168" y="192024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956048" y="18470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Autocomplete, quick Q&amp;A, repetitive tasks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13448" y="1920240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13448" y="19202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2304288"/>
            <a:ext cx="8321040" cy="493776"/>
          </a:xfrm>
          <a:prstGeom prst="rect">
            <a:avLst/>
          </a:prstGeom>
          <a:solidFill>
            <a:srgbClr val="EDE8E2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2377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GPT-5 Mini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441448" y="2377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30168" y="2432304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0168" y="243230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956048" y="235915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completions, boilerplate, simple lookups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13448" y="2432304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13448" y="243230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" y="2816352"/>
            <a:ext cx="8321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" y="28895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GPT-5.4 Mini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441448" y="28895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30168" y="2944368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0168" y="294436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4956048" y="287121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responses, light code tasks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013448" y="2944368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13448" y="294436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1480" y="3328416"/>
            <a:ext cx="8321040" cy="493776"/>
          </a:xfrm>
          <a:prstGeom prst="rect">
            <a:avLst/>
          </a:prstGeom>
          <a:solidFill>
            <a:srgbClr val="EDE8E2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" y="3401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Sonnet 4.5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441448" y="34015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30168" y="3456432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0168" y="34564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956048" y="3383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generation, debugging, test writing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013448" y="3456432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13448" y="3456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11480" y="3840480"/>
            <a:ext cx="8321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" y="3913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Sonnet 4.6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2441448" y="39136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630168" y="3968496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30168" y="39684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4956048" y="389534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Refactoring, code review, explanations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013448" y="3968496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13448" y="396849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11480" y="4352544"/>
            <a:ext cx="8321040" cy="493776"/>
          </a:xfrm>
          <a:prstGeom prst="rect">
            <a:avLst/>
          </a:prstGeom>
          <a:solidFill>
            <a:srgbClr val="EDE8E2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1208" y="44256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2.5 Pro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2441448" y="44256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630168" y="4480560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30168" y="44805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956048" y="44074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tasks, reasoning, code analysis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013448" y="4480560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13448" y="448056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11480" y="4773168"/>
            <a:ext cx="8321040" cy="164592"/>
          </a:xfrm>
          <a:prstGeom prst="roundRect">
            <a:avLst>
              <a:gd name="adj" fmla="val 22222"/>
            </a:avLst>
          </a:prstGeom>
          <a:solidFill>
            <a:srgbClr val="FFF8E5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4360" y="4791456"/>
            <a:ext cx="8046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For routine tasks — autocomplete, quick lookups, simple tests — always default to Lightweight models first.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  ·  PART 2 OF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the Models — Advanced &amp; Premium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04672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92624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9262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8321040" cy="32918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517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441448" y="15179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30168" y="15179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56048" y="15179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Used For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013448" y="15179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Signal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1792224"/>
            <a:ext cx="8321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1856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Opus 4.5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41448" y="18562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30168" y="1911096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1911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956048" y="183794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decisions, complex test strategy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13448" y="1911096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076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13448" y="19110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11480" y="2286000"/>
            <a:ext cx="8321040" cy="475488"/>
          </a:xfrm>
          <a:prstGeom prst="rect">
            <a:avLst/>
          </a:prstGeom>
          <a:solidFill>
            <a:srgbClr val="EDE8E2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2350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Opus 4.6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441448" y="23500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30168" y="2404872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240487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956048" y="23317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Cross-system design, root cause analysis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13448" y="2404872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076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3448" y="24048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11480" y="2779776"/>
            <a:ext cx="8321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28437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Opus 4.7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441448" y="28437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30168" y="2898648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30168" y="289864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956048" y="28254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reasoning, large-scale code review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013448" y="2898648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076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13448" y="2898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11480" y="3273552"/>
            <a:ext cx="8321040" cy="475488"/>
          </a:xfrm>
          <a:prstGeom prst="rect">
            <a:avLst/>
          </a:prstGeom>
          <a:solidFill>
            <a:srgbClr val="EDE8E2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" y="3337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GPT-5.3 Codex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441448" y="3337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30168" y="3392424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30168" y="339242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956048" y="33192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code generation, complex refactoring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013448" y="3392424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0760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13448" y="33924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11480" y="3767328"/>
            <a:ext cx="8321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" y="38313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GPT-5.4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2441448" y="38313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30168" y="3886200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30168" y="38862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956048" y="38130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Research-grade reasoning, multi-step architecture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013448" y="3886200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13448" y="38862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11480" y="4261104"/>
            <a:ext cx="8321040" cy="475488"/>
          </a:xfrm>
          <a:prstGeom prst="rect">
            <a:avLst/>
          </a:prstGeom>
          <a:solidFill>
            <a:srgbClr val="E8F5ED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208" y="4325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7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GPT-5.5 (Teams)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2441448" y="43251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630168" y="4379976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30168" y="43799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956048" y="430682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Deeper — complex investigations, design ADRs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013448" y="4379976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13448" y="437997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Billed*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11480" y="4791456"/>
            <a:ext cx="8321040" cy="146304"/>
          </a:xfrm>
          <a:prstGeom prst="roundRect">
            <a:avLst>
              <a:gd name="adj" fmla="val 25000"/>
            </a:avLst>
          </a:prstGeom>
          <a:solidFill>
            <a:srgbClr val="E8F5ED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" y="4800600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GPT-5.5 via Teams Copilot is not deducted from your credit pool — use it freely for complex tasks before reaching for VS Code Copilot.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Copilot — Use It Freely, It's Not Billed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04672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92624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9262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8321040" cy="804672"/>
          </a:xfrm>
          <a:prstGeom prst="roundRect">
            <a:avLst>
              <a:gd name="adj" fmla="val 11364"/>
            </a:avLst>
          </a:prstGeom>
          <a:solidFill>
            <a:srgbClr val="E8F5ED"/>
          </a:solidFill>
          <a:ln w="12700">
            <a:solidFill>
              <a:srgbClr val="1A7A3C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157276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7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Copilot usage is NOT deducted from your credit pool.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" y="1920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Teams Copilot first on eligible tasks — every credit saved there extends your VS Code Copilot budget for engineering work.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395728"/>
            <a:ext cx="4041648" cy="2450592"/>
          </a:xfrm>
          <a:prstGeom prst="roundRect">
            <a:avLst>
              <a:gd name="adj" fmla="val 3731"/>
            </a:avLst>
          </a:prstGeom>
          <a:solidFill>
            <a:srgbClr val="E8F5ED"/>
          </a:solidFill>
          <a:ln w="12700">
            <a:solidFill>
              <a:srgbClr val="1A7A3C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2487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TEAMS COPILOT FOR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2807208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 Complex Q&amp;A using GPT-5.5 Think Deeper reasoning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3154680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 Exploring unfamiliar codebases or frameworks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3502152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 Architecture notes, design docs, ADRs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3849624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 Explaining test failures and root cause investigation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4197096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 Reviewing and summarising large code diffs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90872" y="2395728"/>
            <a:ext cx="4041648" cy="2450592"/>
          </a:xfrm>
          <a:prstGeom prst="roundRect">
            <a:avLst>
              <a:gd name="adj" fmla="val 3731"/>
            </a:avLst>
          </a:prstGeom>
          <a:solidFill>
            <a:srgbClr val="FAF7F4"/>
          </a:solidFill>
          <a:ln w="12700">
            <a:solidFill>
              <a:srgbClr val="D8D0C8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01184" y="2487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VS CODE COPILOT FOR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37760" y="2807208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Inline autocomplete while actively coding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209544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Generating test stubs within file context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361188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Quick one-line fixes with editor-bound context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4014216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Code generation against #selection or #file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Fresh Sessions Frequently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04672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92624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9262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8321040" cy="585216"/>
          </a:xfrm>
          <a:prstGeom prst="roundRect">
            <a:avLst>
              <a:gd name="adj" fmla="val 12500"/>
            </a:avLst>
          </a:prstGeom>
          <a:solidFill>
            <a:srgbClr val="FDEAED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5727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in a long conversation re-sends the entire prior chat as context — token usage grows exponentially with each follow-up on an unrelated topic.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176272"/>
            <a:ext cx="2670048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176272"/>
            <a:ext cx="2670048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28600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76072" y="279806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Topic per Session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76072" y="3310128"/>
            <a:ext cx="2359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single goal before opening Copilot. When that goal is complete, close the thread — don't chain unrelated queries into the same session.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2176272"/>
            <a:ext cx="2670048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2176272"/>
            <a:ext cx="2670048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228600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410712" y="279806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Between Task Switches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10712" y="3310128"/>
            <a:ext cx="2359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debugging to test generation? Open a fresh chat. Stale context from the previous task inflates token cost with no benefit.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2176272"/>
            <a:ext cx="2670048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2176272"/>
            <a:ext cx="2670048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228600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245352" y="279806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Paste, Don't Scroll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45352" y="3310128"/>
            <a:ext cx="2359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follow-up genuinely needs prior output, paste only the specific snippet. Never rely on the model re-reading old conversation turns.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828032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your current question and the previous message share fewer than 2 contextual dependencies — start a new session.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Your Context Intentionally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04672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92624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9262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#selection  &gt;  #file  &gt;  @workspace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737360"/>
            <a:ext cx="8321040" cy="914400"/>
          </a:xfrm>
          <a:prstGeom prst="roundRect">
            <a:avLst>
              <a:gd name="adj" fmla="val 9000"/>
            </a:avLst>
          </a:prstGeom>
          <a:solidFill>
            <a:srgbClr val="E8F5ED"/>
          </a:solidFill>
          <a:ln w="12700">
            <a:solidFill>
              <a:srgbClr val="1A7A3C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18288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#selection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" y="2212848"/>
            <a:ext cx="1298448" cy="219456"/>
          </a:xfrm>
          <a:prstGeom prst="roundRect">
            <a:avLst>
              <a:gd name="adj" fmla="val 16667"/>
            </a:avLst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1284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COST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907792" y="1847088"/>
            <a:ext cx="18288" cy="69494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1828800"/>
            <a:ext cx="5440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only your highlighted code. Laser-precise — always the first choice for focused tasks like explaining or fixing a specific block.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2743200"/>
            <a:ext cx="8321040" cy="914400"/>
          </a:xfrm>
          <a:prstGeom prst="roundRect">
            <a:avLst>
              <a:gd name="adj" fmla="val 9000"/>
            </a:avLst>
          </a:prstGeom>
          <a:solidFill>
            <a:srgbClr val="FFF8E5"/>
          </a:solidFill>
          <a:ln w="12700">
            <a:solidFill>
              <a:srgbClr val="C8952A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28346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#file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" y="3218688"/>
            <a:ext cx="1298448" cy="219456"/>
          </a:xfrm>
          <a:prstGeom prst="roundRect">
            <a:avLst>
              <a:gd name="adj" fmla="val 16667"/>
            </a:avLst>
          </a:prstGeom>
          <a:solidFill>
            <a:srgbClr val="9B6E00"/>
          </a:solidFill>
          <a:ln w="12700">
            <a:solidFill>
              <a:srgbClr val="9B6E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21868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COST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907792" y="2852928"/>
            <a:ext cx="18288" cy="694944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0672" y="2834640"/>
            <a:ext cx="5440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the entire current file. Use when your function depends on class-level state, decorators, or imports defined elsewhere in the same file.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749040"/>
            <a:ext cx="8321040" cy="914400"/>
          </a:xfrm>
          <a:prstGeom prst="roundRect">
            <a:avLst>
              <a:gd name="adj" fmla="val 9000"/>
            </a:avLst>
          </a:prstGeom>
          <a:solidFill>
            <a:srgbClr val="FDEAED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" y="38404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@workspace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1792" y="4224528"/>
            <a:ext cx="1298448" cy="219456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422452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COST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907792" y="3858768"/>
            <a:ext cx="18288" cy="69494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90672" y="3840480"/>
            <a:ext cx="5440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all open files and the project index. Reserve for cross-cutting concerns only — refactoring across many files, or tracing architectural flows.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5  ·  PART 1 OF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Token Optimisation — The Problem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04672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92624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9262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FDEAED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572768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tokens are more expensive than input tokens — Copilot charges a higher rate per token it generates than per token you send in.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249424"/>
            <a:ext cx="2670048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249424"/>
            <a:ext cx="2670048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359152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76072" y="287121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Verbose Preambles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76072" y="3346704"/>
            <a:ext cx="23591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"Sure! Great question. Let me walk you through this step by step..." — 40–80 tokens of filler text before the actual code begins.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2249424"/>
            <a:ext cx="2670048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2249424"/>
            <a:ext cx="2670048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2359152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410712" y="287121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Restating the Problem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10712" y="3346704"/>
            <a:ext cx="23591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echoes back your prompt in prose before answering — 30–60 tokens of pure redundancy on every single query.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2249424"/>
            <a:ext cx="2670048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2249424"/>
            <a:ext cx="2670048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2359152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245352" y="287121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Unsolicited Explanations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45352" y="3346704"/>
            <a:ext cx="23591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comments and post-code narrative you didn't request — inflating response length and cost with text you delete immediately.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84632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is avoidable — addressed on the next slide.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5  ·  PART 2 OF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Token Optimisation — The Solution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04672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92624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9262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8321040" cy="676656"/>
          </a:xfrm>
          <a:prstGeom prst="roundRect">
            <a:avLst>
              <a:gd name="adj" fmla="val 12162"/>
            </a:avLst>
          </a:prstGeom>
          <a:solidFill>
            <a:srgbClr val="E8F5ED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5544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7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Solution: .github/copilot-instructions.md — the Caveman Pattern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188366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instructions file pre-loaded into every Copilot session — enforces terse, code-first responses across the whole team automatically.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267712"/>
            <a:ext cx="3858768" cy="2377440"/>
          </a:xfrm>
          <a:prstGeom prst="roundRect">
            <a:avLst>
              <a:gd name="adj" fmla="val 3846"/>
            </a:avLst>
          </a:prstGeom>
          <a:solidFill>
            <a:srgbClr val="FDEAED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3591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 instructions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265176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"Sure! Great question. Let me walk you through this step by step. First, let me explain what you are asking. The function you have written attempts to... [80 filler tokens] ...Here is the updated code:"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+300 unnecessary output tokens per query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73752" y="2267712"/>
            <a:ext cx="3858768" cy="2377440"/>
          </a:xfrm>
          <a:prstGeom prst="roundRect">
            <a:avLst>
              <a:gd name="adj" fmla="val 3846"/>
            </a:avLst>
          </a:prstGeom>
          <a:solidFill>
            <a:srgbClr val="E8F5ED"/>
          </a:solidFill>
          <a:ln w="12700">
            <a:solidFill>
              <a:srgbClr val="1A7A3C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56632" y="23591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 copilot-instructions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56632" y="265176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"// Changed: extracted helper fn, added null guard."</a:t>
            </a:r>
            <a:endParaRPr lang="en-US" sz="100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[code block — direct, no preamble]</a:t>
            </a:r>
            <a:endParaRPr lang="en-US" sz="10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necessary tokens consumed.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79392" y="3200400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11480" y="4626864"/>
            <a:ext cx="8321040" cy="274320"/>
          </a:xfrm>
          <a:prstGeom prst="roundRect">
            <a:avLst>
              <a:gd name="adj" fmla="val 16667"/>
            </a:avLst>
          </a:prstGeom>
          <a:solidFill>
            <a:srgbClr val="FFF8E5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6634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Caveman rules: no preambles  ·  no problem restatement  ·  code-first  ·  no inline comments unless asked  ·  terse language only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Similar Tasks into One Prompt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04672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92624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9262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8321040" cy="585216"/>
          </a:xfrm>
          <a:prstGeom prst="roundRect">
            <a:avLst>
              <a:gd name="adj" fmla="val 12500"/>
            </a:avLst>
          </a:prstGeom>
          <a:solidFill>
            <a:srgbClr val="FFF8E5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5727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Copilot invocation carries a fixed overhead — system prompt, context loading, model initialisation. Batching eliminates that overhead for every extra task you group in.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176272"/>
            <a:ext cx="3858768" cy="2560320"/>
          </a:xfrm>
          <a:prstGeom prst="roundRect">
            <a:avLst>
              <a:gd name="adj" fmla="val 3571"/>
            </a:avLst>
          </a:prstGeom>
          <a:solidFill>
            <a:srgbClr val="FDEAED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2677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 ·  One task per prompt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1792" y="2633472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1: 'Add null check to getUserById'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" y="3127248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2: 'Add null check to getOrderById'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3621024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3: 'Add null check to getProductById'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" y="4114800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i="1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full context loads  ·  3× overhead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79392" y="3291840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873752" y="2176272"/>
            <a:ext cx="3858768" cy="2560320"/>
          </a:xfrm>
          <a:prstGeom prst="roundRect">
            <a:avLst>
              <a:gd name="adj" fmla="val 3571"/>
            </a:avLst>
          </a:prstGeom>
          <a:solidFill>
            <a:srgbClr val="E8F5ED"/>
          </a:solidFill>
          <a:ln w="12700">
            <a:solidFill>
              <a:srgbClr val="1A7A3C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56632" y="22677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 ·  Group related tasks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84064" y="2633472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1: 'Add null checks to getUserById, getOrderById, and getProductById'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84064" y="3273552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i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context load  ·  1× overhead  ·  ~60% fewer tokens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736592"/>
            <a:ext cx="2670048" cy="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4736592"/>
            <a:ext cx="2670048" cy="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4736592"/>
            <a:ext cx="2670048" cy="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782312"/>
            <a:ext cx="8321040" cy="146304"/>
          </a:xfrm>
          <a:prstGeom prst="roundRect">
            <a:avLst>
              <a:gd name="adj" fmla="val 25000"/>
            </a:avLst>
          </a:prstGeom>
          <a:solidFill>
            <a:srgbClr val="EDE8E2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800600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Same operation across N targets = 1 prompt, not N prompts. Same feature, multiple aspects = 1 prompt. Group by shared context.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 Unnecessary Comments Before Attaching Files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04672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92624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9262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8321040" cy="585216"/>
          </a:xfrm>
          <a:prstGeom prst="roundRect">
            <a:avLst>
              <a:gd name="adj" fmla="val 12500"/>
            </a:avLst>
          </a:prstGeom>
          <a:solidFill>
            <a:srgbClr val="FDEAED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5727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of a #file or #selection you attach is sent as input tokens. Dense comment blocks — JSDoc, inline explanations, TODO stubs — inflate your input cost before the model even starts.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176272"/>
            <a:ext cx="3858768" cy="2560320"/>
          </a:xfrm>
          <a:prstGeom prst="roundRect">
            <a:avLst>
              <a:gd name="adj" fmla="val 3571"/>
            </a:avLst>
          </a:prstGeom>
          <a:solidFill>
            <a:srgbClr val="FDEAED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2677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BEFORE ATTACHING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1792" y="2615184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Verbose JSDoc blocks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" y="281635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Multi-line param/return descriptions already obvious from types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303580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Stale TODO / FIXME comments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" y="323697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Old notes that no longer reflect the current task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1792" y="345643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Redundant inline narration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" y="365760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'// increment the counter' above counter++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1792" y="387705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Commented-out dead code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" y="407822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Old implementations left in as reference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429768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Auto-generated file headers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" y="44988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Licence/copyright banners when not relevant to the task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79392" y="3291840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873752" y="2176272"/>
            <a:ext cx="3858768" cy="2560320"/>
          </a:xfrm>
          <a:prstGeom prst="roundRect">
            <a:avLst>
              <a:gd name="adj" fmla="val 3571"/>
            </a:avLst>
          </a:prstGeom>
          <a:solidFill>
            <a:srgbClr val="E8F5ED"/>
          </a:solidFill>
          <a:ln w="12700">
            <a:solidFill>
              <a:srgbClr val="1A7A3C"/>
            </a:solidFill>
            <a:prstDash val="solid"/>
          </a:ln>
          <a:effectLst>
            <a:outerShdw sx="100000" sy="100000" kx="0" ky="0" algn="bl" rotWithShape="0" blurRad="63500" dist="25400" dir="2700000">
              <a:srgbClr val="5A4A3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56632" y="22677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— ADDS SIGNAL FOR COPILOT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84064" y="2615184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Business logic comments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84064" y="281635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Why a decision was made — not what the code does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84064" y="3118104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Non-obvious edge case notes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84064" y="331927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Behaviour that would surprise a reader without context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84064" y="3621024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Domain-specific annotations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84064" y="382219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Tags Copilot needs to understand the intent or contract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84064" y="4123944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Temporary context anchors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84064" y="432511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Short inline notes explaining your specific task scope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1480" y="4782312"/>
            <a:ext cx="8321040" cy="146304"/>
          </a:xfrm>
          <a:prstGeom prst="roundRect">
            <a:avLst>
              <a:gd name="adj" fmla="val 25000"/>
            </a:avLst>
          </a:prstGeom>
          <a:solidFill>
            <a:srgbClr val="EDE8E2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800600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a comment explains WHAT the code does (and the code is readable), delete it before attaching. Only keep WHY comments.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3756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37560" y="0"/>
            <a:ext cx="54864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4023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FARGO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4592" y="162763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64592" y="2212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4592" y="270662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164592" y="3291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Teams Copilot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4592" y="378561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164592" y="43708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File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03320" y="502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03320" y="804672"/>
            <a:ext cx="5212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Ways to Protect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Token Budget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703320" y="1901952"/>
            <a:ext cx="457200" cy="329184"/>
          </a:xfrm>
          <a:prstGeom prst="roundRect">
            <a:avLst>
              <a:gd name="adj" fmla="val 1388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9019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51960" y="1920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model tiers — match capability to task complexity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03320" y="2322576"/>
            <a:ext cx="457200" cy="329184"/>
          </a:xfrm>
          <a:prstGeom prst="roundRect">
            <a:avLst>
              <a:gd name="adj" fmla="val 1388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232257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51960" y="23408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Teams Copilot freely — it is not billed to your credits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03320" y="2743200"/>
            <a:ext cx="457200" cy="329184"/>
          </a:xfrm>
          <a:prstGeom prst="roundRect">
            <a:avLst>
              <a:gd name="adj" fmla="val 1388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274320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51960" y="2761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 sessions — context carryover multiplies cost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03320" y="3163824"/>
            <a:ext cx="457200" cy="329184"/>
          </a:xfrm>
          <a:prstGeom prst="roundRect">
            <a:avLst>
              <a:gd name="adj" fmla="val 1388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316382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51960" y="31821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#selection &gt; #file &gt; @workspace — smallest scope always wins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03320" y="3584448"/>
            <a:ext cx="457200" cy="329184"/>
          </a:xfrm>
          <a:prstGeom prst="roundRect">
            <a:avLst>
              <a:gd name="adj" fmla="val 1388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358444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51960" y="36027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 — suppress verbose output by default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03320" y="4005072"/>
            <a:ext cx="457200" cy="329184"/>
          </a:xfrm>
          <a:prstGeom prst="roundRect">
            <a:avLst>
              <a:gd name="adj" fmla="val 1388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400507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51960" y="4023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similar tasks into one prompt — 1 context load, not 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03320" y="4425696"/>
            <a:ext cx="457200" cy="329184"/>
          </a:xfrm>
          <a:prstGeom prst="roundRect">
            <a:avLst>
              <a:gd name="adj" fmla="val 1388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442569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51960" y="44439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unnecessary comments from files before attaching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703320" y="493776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Optimising Copilot Token Utilisation</dc:title>
  <dc:subject>PptxGenJS Presentation</dc:subject>
  <dc:creator>QA Engineering</dc:creator>
  <cp:lastModifiedBy>QA Engineering</cp:lastModifiedBy>
  <cp:revision>1</cp:revision>
  <dcterms:created xsi:type="dcterms:W3CDTF">2026-06-10T04:03:10Z</dcterms:created>
  <dcterms:modified xsi:type="dcterms:W3CDTF">2026-06-10T04:03:10Z</dcterms:modified>
</cp:coreProperties>
</file>