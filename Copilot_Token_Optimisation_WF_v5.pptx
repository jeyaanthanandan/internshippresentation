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FARGO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Optimising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Token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2331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Utilisation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11480" y="3108960"/>
            <a:ext cx="2560320" cy="411480"/>
          </a:xfrm>
          <a:prstGeom prst="roundRect">
            <a:avLst>
              <a:gd name="adj" fmla="val 11111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31089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108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3611880"/>
            <a:ext cx="2560320" cy="411480"/>
          </a:xfrm>
          <a:prstGeom prst="roundRect">
            <a:avLst>
              <a:gd name="adj" fmla="val 11111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6118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611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Spend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4114800"/>
            <a:ext cx="2560320" cy="411480"/>
          </a:xfrm>
          <a:prstGeom prst="roundRect">
            <a:avLst>
              <a:gd name="adj" fmla="val 11111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1148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FF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114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 Quality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06240" y="14630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guide to managing credit-based Copilot billing — practices to preserve budget without sacrificing engineering velocity.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06240" y="46863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Internal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69764"/>
            <a:ext cx="9144000" cy="1737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498805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 ·  QA Engineering  ·  June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498080" y="498805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11480" y="5303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Billing Shift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1115568"/>
            <a:ext cx="804672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234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moved from unlimited flat-fee to credit-based billing in June 2026 — making token spend a real engineering concern for the first time.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874520"/>
            <a:ext cx="1280160" cy="548640"/>
          </a:xfrm>
          <a:prstGeom prst="roundRect">
            <a:avLst>
              <a:gd name="adj" fmla="val 8333"/>
            </a:avLst>
          </a:prstGeom>
          <a:solidFill>
            <a:srgbClr val="FAF7F4"/>
          </a:solidFill>
          <a:ln w="19050">
            <a:solidFill>
              <a:srgbClr val="D8D0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745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" y="21945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billing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783080" y="1874520"/>
            <a:ext cx="1280160" cy="548640"/>
          </a:xfrm>
          <a:prstGeom prst="roundRect">
            <a:avLst>
              <a:gd name="adj" fmla="val 8333"/>
            </a:avLst>
          </a:prstGeom>
          <a:solidFill>
            <a:srgbClr val="FAF7F4"/>
          </a:solidFill>
          <a:ln w="19050">
            <a:solidFill>
              <a:srgbClr val="D8D0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3080" y="18745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83080" y="21945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change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154680" y="1874520"/>
            <a:ext cx="1280160" cy="548640"/>
          </a:xfrm>
          <a:prstGeom prst="roundRect">
            <a:avLst>
              <a:gd name="adj" fmla="val 8333"/>
            </a:avLst>
          </a:prstGeom>
          <a:solidFill>
            <a:srgbClr val="FAF7F4"/>
          </a:solidFill>
          <a:ln w="19050">
            <a:solidFill>
              <a:srgbClr val="D8D0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18745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154680" y="21945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covered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" y="2606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QA Engineering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29260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Copilot interaction now draws from a finite pool. Prompts that worked under flat-fee — wide context, verbose output, multiple follow-ups — now carry a real cost. The 7 strategies in this deck are the practical playbook for staying productive without exhausting the budget.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530352"/>
            <a:ext cx="4023360" cy="4251960"/>
          </a:xfrm>
          <a:prstGeom prst="roundRect">
            <a:avLst>
              <a:gd name="adj" fmla="val 1818"/>
            </a:avLst>
          </a:prstGeom>
          <a:solidFill>
            <a:srgbClr val="EDE8E2"/>
          </a:solidFill>
          <a:ln w="25400">
            <a:solidFill>
              <a:srgbClr val="D8D0C8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800600" y="2377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image here ]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69764"/>
            <a:ext cx="9144000" cy="1737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498805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 ·  QA Engineering  ·  June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498080" y="498805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11480" y="62179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Did This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1307592"/>
            <a:ext cx="804672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463040"/>
            <a:ext cx="3840480" cy="3108960"/>
          </a:xfrm>
          <a:prstGeom prst="roundRect">
            <a:avLst>
              <a:gd name="adj" fmla="val 1765"/>
            </a:avLst>
          </a:prstGeom>
          <a:solidFill>
            <a:srgbClr val="FAF7F4"/>
          </a:solidFill>
          <a:ln w="12700">
            <a:solidFill>
              <a:srgbClr val="D8D0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463040"/>
            <a:ext cx="3840480" cy="384048"/>
          </a:xfrm>
          <a:prstGeom prst="rect">
            <a:avLst/>
          </a:prstGeom>
          <a:solidFill>
            <a:srgbClr val="EDE8E2"/>
          </a:solidFill>
          <a:ln w="12700">
            <a:solidFill>
              <a:srgbClr val="D8D0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·  Pre June 2026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Flat-Fee Model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2423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Unlimited usage, fixed monthly licence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9077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Brute-force prompting had no financial cost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39242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Wide context, verbose output — no penalty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8770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No team incentive to optimise spend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60520" y="2606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892040" y="1463040"/>
            <a:ext cx="3840480" cy="3108960"/>
          </a:xfrm>
          <a:prstGeom prst="roundRect">
            <a:avLst>
              <a:gd name="adj" fmla="val 1765"/>
            </a:avLst>
          </a:prstGeom>
          <a:solidFill>
            <a:srgbClr val="FDEAED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1463040"/>
            <a:ext cx="3840480" cy="384048"/>
          </a:xfrm>
          <a:prstGeom prst="rect">
            <a:avLst/>
          </a:prstGeom>
          <a:solidFill>
            <a:srgbClr val="F5D0D5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B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·  From June 2026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Credit-Based Billing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29200" y="2423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Every token counts against a finite credit pool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0" y="29077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Limits exhaust faster than teams expect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0" y="339242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Large contexts and verbose outputs drain budget fast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0" y="38770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Efficient prompting is now mission-critical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1  ·  PART 1 OF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69764"/>
            <a:ext cx="9144000" cy="1737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498805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 ·  QA Engineering  ·  June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498080" y="498805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11480" y="62179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the Models — Lightweight &amp; Mid-Tier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1307592"/>
            <a:ext cx="804672" cy="45720"/>
          </a:xfrm>
          <a:prstGeom prst="rect">
            <a:avLst/>
          </a:prstGeom>
          <a:solidFill>
            <a:srgbClr val="C8102E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63040"/>
          <a:ext cx="8321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188720"/>
                <a:gridCol w="274320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Used For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Signal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Haiku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Autocomplete, quick Q&amp;A, repetitive tasks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 Mini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completions, boilerplate, simple lookups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GPT-5.4 Mini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High-speed responses, light code tasks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 4.5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MID-TIER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generation, debugging, test writing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 4.6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MID-TIER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Refactoring, code review, explanations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2.5 Pro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MID-TIER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Multi-modal tasks, reasoning, code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11480" y="4549140"/>
            <a:ext cx="8321040" cy="320040"/>
          </a:xfrm>
          <a:prstGeom prst="roundRect">
            <a:avLst>
              <a:gd name="adj" fmla="val 11429"/>
            </a:avLst>
          </a:prstGeom>
          <a:solidFill>
            <a:srgbClr val="FFF5F5"/>
          </a:solidFill>
          <a:ln w="6350">
            <a:solidFill>
              <a:srgbClr val="C810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45491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For routine tasks — autocomplete, quick lookups, simple tests — always default to Lightweight models first.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1  ·  PART 2 OF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69764"/>
            <a:ext cx="9144000" cy="1737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498805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 ·  QA Engineering  ·  June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498080" y="498805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11480" y="62179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the Models — Advanced &amp; Premium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1307592"/>
            <a:ext cx="804672" cy="45720"/>
          </a:xfrm>
          <a:prstGeom prst="rect">
            <a:avLst/>
          </a:prstGeom>
          <a:solidFill>
            <a:srgbClr val="C8102E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63040"/>
          <a:ext cx="8321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188720"/>
                <a:gridCol w="274320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Used For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Signal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Opus 4.5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decisions, complex test 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Opus 4.6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Cross-system design, root cause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Opus 4.7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reasoning, large-scale code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GPT-5.3 Codex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Specialised code generation, complex refactoring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Research-grade reasoning, multi-step architecture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GPT-5.5 (Teams)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 Deeper — complex investigations, design ADRs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Billed*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11480" y="4549140"/>
            <a:ext cx="8321040" cy="320040"/>
          </a:xfrm>
          <a:prstGeom prst="roundRect">
            <a:avLst>
              <a:gd name="adj" fmla="val 11429"/>
            </a:avLst>
          </a:prstGeom>
          <a:solidFill>
            <a:srgbClr val="FFF5F5"/>
          </a:solidFill>
          <a:ln w="6350">
            <a:solidFill>
              <a:srgbClr val="C810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45491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GPT-5.5 via Teams Copilot is not deducted from your credit pool — use it freely for complex tasks before reaching for VS Code Copilot.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69764"/>
            <a:ext cx="9144000" cy="1737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498805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 ·  QA Engineering  ·  June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498080" y="498805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11480" y="62179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 Copilot — Use It Freely, It’s Not Billed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1307592"/>
            <a:ext cx="804672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417320"/>
            <a:ext cx="8321040" cy="384048"/>
          </a:xfrm>
          <a:prstGeom prst="roundRect">
            <a:avLst>
              <a:gd name="adj" fmla="val 9524"/>
            </a:avLst>
          </a:prstGeom>
          <a:solidFill>
            <a:srgbClr val="FFF5F5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1732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Copilot usage is NOT deducted from your credit pool.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8745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Teams Copilot first on eligible tasks — every credit saved there extends your VS Code Copilot budget for engineering work.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377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TEAMS COPILOT FOR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651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 Complex Q&amp;A using GPT-5.5 Think Deeper reasoning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035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 Exploring unfamiliar codebases or frameworks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4198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 Architecture notes, design docs, ADRs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8039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 Explaining test failures and root cause investigation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41879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 Reviewing and summarising large code diffs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377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VS CODE COPILOT FOR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Inline autocomplete while actively coding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30358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Generating test stubs within file context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4198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Quick one-line fixes with editor-bound context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8039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Code generation against #selection or #file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69764"/>
            <a:ext cx="9144000" cy="1737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498805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 ·  QA Engineering  ·  June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498080" y="498805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11480" y="62179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Fresh Sessions Frequently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1307592"/>
            <a:ext cx="804672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417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 in a long conversation re-sends the entire prior chat as context — token usage grows exponentially with each follow-up on an unrelated topic.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057400"/>
            <a:ext cx="26060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D0C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1488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Topic per Session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single goal before opening Copilot. When that goal is complete, close the thread.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2057400"/>
            <a:ext cx="26060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D0C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83280" y="21488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83280" y="2606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 Between Task Switches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9718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debugging to test generation? Open a fresh chat. Stale context inflates token cost with no benefit.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2057400"/>
            <a:ext cx="26060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D0C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21488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0" y="2606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Paste, Don’t Scroll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9718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follow-up needs prior output, paste only the specific snippet. Never rely on the model re-reading old turns.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594860"/>
            <a:ext cx="8321040" cy="292608"/>
          </a:xfrm>
          <a:prstGeom prst="roundRect">
            <a:avLst>
              <a:gd name="adj" fmla="val 12500"/>
            </a:avLst>
          </a:prstGeom>
          <a:solidFill>
            <a:srgbClr val="FFF5F5"/>
          </a:solidFill>
          <a:ln w="6350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5948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If your current question and the previous message share fewer than 2 contextual dependencies — start a new session.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69764"/>
            <a:ext cx="9144000" cy="1737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498805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 ·  QA Engineering  ·  June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498080" y="498805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11480" y="62179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Your Context Intentionally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1307592"/>
            <a:ext cx="804672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4173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#selection  &gt;  #file  &gt;  @workspace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#selection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22402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COST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60320" y="192024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only your highlighted code. Laser-precise — always the first choice for focused tasks like explaining or fixing a specific block.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#file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" y="32004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COST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60320" y="288036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the entire current file. Use when your function depends on class-level state, decorators, or imports elsewhere in the same file.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@workspace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1480" y="41605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COST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60320" y="384048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all open files and the project index. Reserve for cross-cutting concerns only — refactoring across many files, or tracing architectural flows.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5  ·  PART 1 OF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69764"/>
            <a:ext cx="9144000" cy="1737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498805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 ·  QA Engineering  ·  June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498080" y="498805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11480" y="62179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Token Optimisation — The Problem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1307592"/>
            <a:ext cx="804672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4173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tokens are more expensive than input tokens — Copilot charges a higher rate per token it generates than per token you send in.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011680"/>
            <a:ext cx="26060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D0C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1031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2560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Verbose Preambles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"Sure! Great question. Let me walk you through this..." — 40–80 tokens of filler before the actual code.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2011680"/>
            <a:ext cx="26060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D0C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83280" y="21031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83280" y="2560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Restating the Problem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926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echoes back your prompt in prose before answering — 30–60 tokens of pure redundancy per query.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2011680"/>
            <a:ext cx="26060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D0C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21031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0" y="2560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Unsolicited Explanations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926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comments and post-code narrative you didn’t request — inflating response length with text you delete immediately.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6405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these is avoidable — addressed on the next slide.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5  ·  PART 2 OF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69764"/>
            <a:ext cx="9144000" cy="1737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498805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 ·  QA Engineering  ·  June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498080" y="498805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11480" y="62179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Token Optimisation — The Solution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1307592"/>
            <a:ext cx="804672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417320"/>
            <a:ext cx="8321040" cy="384048"/>
          </a:xfrm>
          <a:prstGeom prst="roundRect">
            <a:avLst>
              <a:gd name="adj" fmla="val 9524"/>
            </a:avLst>
          </a:prstGeom>
          <a:solidFill>
            <a:srgbClr val="FFF5F5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1732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.github/copilot-instructions.md — the Caveman Pattern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9202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instructions file pre-loaded into every Copilot session — enforces terse, code-first responses across the whole team automatically.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331720"/>
            <a:ext cx="3840480" cy="1737360"/>
          </a:xfrm>
          <a:prstGeom prst="roundRect">
            <a:avLst>
              <a:gd name="adj" fmla="val 3158"/>
            </a:avLst>
          </a:prstGeom>
          <a:solidFill>
            <a:srgbClr val="FAF7F4"/>
          </a:solidFill>
          <a:ln w="12700">
            <a:solidFill>
              <a:srgbClr val="D8D0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77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 instructions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651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"Sure! Great question. Let me walk you through this step by step. First, let me explain what you are asking..."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+300 unnecessary output tokens per query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60520" y="28346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892040" y="2331720"/>
            <a:ext cx="3840480" cy="1737360"/>
          </a:xfrm>
          <a:prstGeom prst="roundRect">
            <a:avLst>
              <a:gd name="adj" fmla="val 3158"/>
            </a:avLst>
          </a:prstGeom>
          <a:solidFill>
            <a:srgbClr val="F0FFF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377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 copilot-instructions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2651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"// Changed: extracted helper fn, added null guard."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[code block — direct, no preamble]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necessary tokens consumed.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6405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Caveman rules: no preambles  ·  no problem restatement  ·  code-first  ·  no inline comments unless asked  ·  terse language only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69764"/>
            <a:ext cx="9144000" cy="1737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498805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 ·  QA Engineering  ·  June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498080" y="498805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11480" y="62179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Similar Tasks into One Prompt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1307592"/>
            <a:ext cx="804672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4173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Copilot invocation carries a fixed overhead — system prompt, context loading, model initialisation. Batching eliminates that overhead for every extra task you group in.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965960"/>
            <a:ext cx="3840480" cy="2194560"/>
          </a:xfrm>
          <a:prstGeom prst="roundRect">
            <a:avLst>
              <a:gd name="adj" fmla="val 2500"/>
            </a:avLst>
          </a:prstGeom>
          <a:solidFill>
            <a:srgbClr val="FAF7F4"/>
          </a:solidFill>
          <a:ln w="12700">
            <a:solidFill>
              <a:srgbClr val="D8D0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11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 ·  One task per prompt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1: ‘Add null check to getUserById’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2: ‘Add null check to getOrderById’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3: ‘Add null check to getProductById’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full context loads  ·  3× overhead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60520" y="27432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892040" y="1965960"/>
            <a:ext cx="3840480" cy="2194560"/>
          </a:xfrm>
          <a:prstGeom prst="roundRect">
            <a:avLst>
              <a:gd name="adj" fmla="val 2500"/>
            </a:avLst>
          </a:prstGeom>
          <a:solidFill>
            <a:srgbClr val="F0FFF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011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 ·  Group related tasks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2377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1: ‘Add null checks to getUserById, getOrderById, and getProductById’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35661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context load  ·  1× overhead  ·  ~60% fewer tokens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4594860"/>
            <a:ext cx="8321040" cy="292608"/>
          </a:xfrm>
          <a:prstGeom prst="roundRect">
            <a:avLst>
              <a:gd name="adj" fmla="val 12500"/>
            </a:avLst>
          </a:prstGeom>
          <a:solidFill>
            <a:srgbClr val="FFF5F5"/>
          </a:solidFill>
          <a:ln w="6350">
            <a:solidFill>
              <a:srgbClr val="C810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5948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Same operation across N targets = 1 prompt, not N prompts. Same feature, multiple aspects = 1 prompt. Group by shared context.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69764"/>
            <a:ext cx="9144000" cy="1737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4988052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 ·  QA Engineering  ·  June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498080" y="498805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11480" y="62179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 Unnecessary Comments Before Attaching Files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1307592"/>
            <a:ext cx="804672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4173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of a #file or #selection you attach is sent as input tokens. Dense comment blocks inflate your input cost before the model even starts.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BEFORE ATTACHING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1945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Verbose JSDoc blocks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3774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Multi-line param/return descriptions already obvious from types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6974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Stale TODO / FIXME comments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8803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Old notes that no longer reflect the current task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32004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Redundant inline narration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3832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'// increment the counter' above counter++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37033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Commented-out dead code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886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Old implementations left in as reference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42062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Auto-generated file headers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3891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Licence/copyright banners when not relevant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19202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— ADDS SIGNAL FOR COPILOT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21945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Business logic comments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3774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Why a decision was made — not what the code does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697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Non-obvious edge case notes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880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Behaviour that would surprise a reader without context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32004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Domain-specific annotations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33832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Tags Copilot needs to understand the intent or contract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2040" y="3703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Temporary context anchors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38862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Short inline notes explaining your specific task scope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4594860"/>
            <a:ext cx="8321040" cy="292608"/>
          </a:xfrm>
          <a:prstGeom prst="roundRect">
            <a:avLst>
              <a:gd name="adj" fmla="val 12500"/>
            </a:avLst>
          </a:prstGeom>
          <a:solidFill>
            <a:srgbClr val="FFF5F5"/>
          </a:solidFill>
          <a:ln w="6350">
            <a:solidFill>
              <a:srgbClr val="C810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5948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If a comment explains WHAT the code does (and the code is readable), delete it before attaching. Only keep WHY comments.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FARGO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11480" y="30175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— Teams Copilot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3566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11480" y="42062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File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06240" y="6400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Ways to Protect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Token Budget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206240" y="1645920"/>
            <a:ext cx="502920" cy="347472"/>
          </a:xfrm>
          <a:prstGeom prst="roundRect">
            <a:avLst>
              <a:gd name="adj" fmla="val 10526"/>
            </a:avLst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16459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6459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model tiers — match capability to task complexity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06240" y="2084832"/>
            <a:ext cx="502920" cy="347472"/>
          </a:xfrm>
          <a:prstGeom prst="roundRect">
            <a:avLst>
              <a:gd name="adj" fmla="val 10526"/>
            </a:avLst>
          </a:pr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4206240" y="20848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0848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Teams Copilot freely — it is not billed to your credits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06240" y="2523744"/>
            <a:ext cx="502920" cy="347472"/>
          </a:xfrm>
          <a:prstGeom prst="roundRect">
            <a:avLst>
              <a:gd name="adj" fmla="val 10526"/>
            </a:avLst>
          </a:pr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4206240" y="252374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5237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fresh sessions — context carryover multiplies cost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06240" y="2962656"/>
            <a:ext cx="502920" cy="347472"/>
          </a:xfrm>
          <a:prstGeom prst="roundRect">
            <a:avLst>
              <a:gd name="adj" fmla="val 10526"/>
            </a:avLst>
          </a:prstGeom>
          <a:solidFill>
            <a:srgbClr val="C8102E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0" y="296265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9626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#selection &gt; #file &gt; @workspace — smallest scope always wins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06240" y="3401568"/>
            <a:ext cx="502920" cy="347472"/>
          </a:xfrm>
          <a:prstGeom prst="roundRect">
            <a:avLst>
              <a:gd name="adj" fmla="val 10526"/>
            </a:avLst>
          </a:prstGeom>
          <a:solidFill>
            <a:srgbClr val="C8102E"/>
          </a:solidFill>
          <a:ln/>
        </p:spPr>
      </p:sp>
      <p:sp>
        <p:nvSpPr>
          <p:cNvPr id="26" name="Text 24"/>
          <p:cNvSpPr/>
          <p:nvPr/>
        </p:nvSpPr>
        <p:spPr>
          <a:xfrm>
            <a:off x="4206240" y="34015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401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copilot-instructions.md — suppress verbose output by default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06240" y="3840480"/>
            <a:ext cx="502920" cy="347472"/>
          </a:xfrm>
          <a:prstGeom prst="roundRect">
            <a:avLst>
              <a:gd name="adj" fmla="val 10526"/>
            </a:avLst>
          </a:prstGeom>
          <a:solidFill>
            <a:srgbClr val="C8102E"/>
          </a:solidFill>
          <a:ln/>
        </p:spPr>
      </p:sp>
      <p:sp>
        <p:nvSpPr>
          <p:cNvPr id="29" name="Text 27"/>
          <p:cNvSpPr/>
          <p:nvPr/>
        </p:nvSpPr>
        <p:spPr>
          <a:xfrm>
            <a:off x="4206240" y="38404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8404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similar tasks into one prompt — 1 context load, not 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06240" y="4279392"/>
            <a:ext cx="502920" cy="347472"/>
          </a:xfrm>
          <a:prstGeom prst="roundRect">
            <a:avLst>
              <a:gd name="adj" fmla="val 10526"/>
            </a:avLst>
          </a:prstGeom>
          <a:solidFill>
            <a:srgbClr val="C8102E"/>
          </a:solidFill>
          <a:ln/>
        </p:spPr>
      </p:sp>
      <p:sp>
        <p:nvSpPr>
          <p:cNvPr id="32" name="Text 30"/>
          <p:cNvSpPr/>
          <p:nvPr/>
        </p:nvSpPr>
        <p:spPr>
          <a:xfrm>
            <a:off x="4206240" y="42793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42793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unnecessary comments from files before attaching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206240" y="47777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 ·  QA Engineering  ·  June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Optimising Copilot Token Utilisation</dc:title>
  <dc:subject>PptxGenJS Presentation</dc:subject>
  <dc:creator>QA Engineering</dc:creator>
  <cp:lastModifiedBy>QA Engineering</cp:lastModifiedBy>
  <cp:revision>1</cp:revision>
  <dcterms:created xsi:type="dcterms:W3CDTF">2026-06-11T13:26:38Z</dcterms:created>
  <dcterms:modified xsi:type="dcterms:W3CDTF">2026-06-11T13:26:38Z</dcterms:modified>
</cp:coreProperties>
</file>