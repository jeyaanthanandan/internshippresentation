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CCC44"/>
          </a:solidFill>
          <a:ln w="12700">
            <a:solidFill>
              <a:srgbClr val="FCCC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Automation – Benefit Realization Snapshot</a:t>
            </a:r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4B5"/>
                </a:solidFill>
                <a:latin typeface="Calibri" pitchFamily="34" charset="0"/>
              </a:rPr>
              <a:t>PDILL  |  IAM  |  CVP  |  Executive Summary  |  June 2026</a:t>
            </a:r>
          </a:p>
        </p:txBody>
      </p:sp>
      <p:sp>
        <p:nvSpPr>
          <p:cNvPr id="60" name="StatBox1"/>
          <p:cNvSpPr/>
          <p:nvPr/>
        </p:nvSpPr>
        <p:spPr>
          <a:xfrm>
            <a:off x="228600" y="1070000"/>
            <a:ext cx="2080800" cy="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76200" dist="38100" dir="5400000" algn="t" rotWithShape="0">
              <a:srgbClr val="000000">
                <a:alpha val="12000"/>
              </a:srgbClr>
            </a:outerShdw>
          </a:effectLst>
        </p:spPr>
      </p:sp>
      <p:sp>
        <p:nvSpPr>
          <p:cNvPr id="61" name="StatBox1Label"/>
          <p:cNvSpPr/>
          <p:nvPr/>
        </p:nvSpPr>
        <p:spPr>
          <a:xfrm>
            <a:off x="228600" y="1070000"/>
            <a:ext cx="20808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850" b="0" dirty="0">
                <a:solidFill>
                  <a:srgbClr val="4A4A4A"/>
                </a:solidFill>
                <a:latin typeface="Calibri" pitchFamily="34" charset="0"/>
              </a:rPr>
              <a:t>Opportunities</a:t>
            </a:r>
          </a:p>
        </p:txBody>
      </p:sp>
      <p:sp>
        <p:nvSpPr>
          <p:cNvPr id="62" name="StatBox2"/>
          <p:cNvSpPr/>
          <p:nvPr/>
        </p:nvSpPr>
        <p:spPr>
          <a:xfrm>
            <a:off x="2400600" y="1070000"/>
            <a:ext cx="2080800" cy="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76200" dist="38100" dir="5400000" algn="t" rotWithShape="0">
              <a:srgbClr val="000000">
                <a:alpha val="12000"/>
              </a:srgbClr>
            </a:outerShdw>
          </a:effectLst>
        </p:spPr>
      </p:sp>
      <p:sp>
        <p:nvSpPr>
          <p:cNvPr id="63" name="StatBox2Label"/>
          <p:cNvSpPr/>
          <p:nvPr/>
        </p:nvSpPr>
        <p:spPr>
          <a:xfrm>
            <a:off x="2400600" y="1070000"/>
            <a:ext cx="20808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Calibri" pitchFamily="34" charset="0"/>
              </a:rPr>
              <a:t>2 / 6</a:t>
            </a:r>
            <a:endParaRPr lang="en-US" sz="2200" dirty="0"/>
          </a:p>
          <a:p>
            <a:pPr algn="ctr" indent="0" marL="0">
              <a:buNone/>
            </a:pPr>
            <a:r>
              <a:rPr lang="en-US" sz="850" b="0" dirty="0">
                <a:solidFill>
                  <a:srgbClr val="4A4A4A"/>
                </a:solidFill>
                <a:latin typeface="Calibri" pitchFamily="34" charset="0"/>
              </a:rPr>
              <a:t>Opportunities Done</a:t>
            </a:r>
          </a:p>
        </p:txBody>
      </p:sp>
      <p:sp>
        <p:nvSpPr>
          <p:cNvPr id="64" name="StatBox3"/>
          <p:cNvSpPr/>
          <p:nvPr/>
        </p:nvSpPr>
        <p:spPr>
          <a:xfrm>
            <a:off x="4572600" y="1070000"/>
            <a:ext cx="2080800" cy="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76200" dist="38100" dir="5400000" algn="t" rotWithShape="0">
              <a:srgbClr val="000000">
                <a:alpha val="12000"/>
              </a:srgbClr>
            </a:outerShdw>
          </a:effectLst>
        </p:spPr>
      </p:sp>
      <p:sp>
        <p:nvSpPr>
          <p:cNvPr id="65" name="StatBox3Label"/>
          <p:cNvSpPr/>
          <p:nvPr/>
        </p:nvSpPr>
        <p:spPr>
          <a:xfrm>
            <a:off x="4572600" y="1070000"/>
            <a:ext cx="20808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1E28"/>
                </a:solidFill>
                <a:latin typeface="Calibri" pitchFamily="34" charset="0"/>
              </a:rPr>
              <a:t>1 Deployed, 1 Pilot</a:t>
            </a:r>
            <a:endParaRPr lang="en-US" sz="1400" dirty="0"/>
          </a:p>
          <a:p>
            <a:pPr algn="ctr" indent="0" marL="0">
              <a:buNone/>
            </a:pPr>
            <a:r>
              <a:rPr lang="en-US" sz="850" b="0" dirty="0">
                <a:solidFill>
                  <a:srgbClr val="4A4A4A"/>
                </a:solidFill>
                <a:latin typeface="Calibri" pitchFamily="34" charset="0"/>
              </a:rPr>
              <a:t>Current Status</a:t>
            </a:r>
          </a:p>
        </p:txBody>
      </p:sp>
      <p:sp>
        <p:nvSpPr>
          <p:cNvPr id="66" name="StatBox4"/>
          <p:cNvSpPr/>
          <p:nvPr/>
        </p:nvSpPr>
        <p:spPr>
          <a:xfrm>
            <a:off x="6744600" y="1070000"/>
            <a:ext cx="2170800" cy="430000"/>
          </a:xfrm>
          <a:prstGeom prst="roundRect">
            <a:avLst>
              <a:gd name="adj" fmla="val 8000"/>
            </a:avLst>
          </a:prstGeom>
          <a:solidFill>
            <a:srgbClr val="D71E28"/>
          </a:solidFill>
          <a:ln w="19050">
            <a:solidFill>
              <a:srgbClr val="A3141C"/>
            </a:solidFill>
            <a:prstDash val="solid"/>
          </a:ln>
          <a:effectLst>
            <a:outerShdw blurRad="76200" dist="38100" dir="5400000" algn="t" rotWithShape="0">
              <a:srgbClr val="000000">
                <a:alpha val="15000"/>
              </a:srgbClr>
            </a:outerShdw>
          </a:effectLst>
        </p:spPr>
      </p:sp>
      <p:sp>
        <p:nvSpPr>
          <p:cNvPr id="67" name="StatBox4Label"/>
          <p:cNvSpPr/>
          <p:nvPr/>
        </p:nvSpPr>
        <p:spPr>
          <a:xfrm>
            <a:off x="6744600" y="1070000"/>
            <a:ext cx="2170800" cy="4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Next Step</a:t>
            </a:r>
            <a:endParaRPr lang="en-US" sz="950" dirty="0"/>
          </a:p>
          <a:p>
            <a:pPr algn="ctr" indent="0" marL="0">
              <a:buNone/>
            </a:pPr>
            <a:r>
              <a:rPr lang="en-US" sz="800" b="0" dirty="0">
                <a:solidFill>
                  <a:srgbClr val="FFE4B5"/>
                </a:solidFill>
                <a:latin typeface="Calibri" pitchFamily="34" charset="0"/>
              </a:rPr>
              <a:t>Continue roll out for other CIO groups</a:t>
            </a:r>
          </a:p>
        </p:txBody>
      </p:sp>
      <p:graphicFrame>
        <p:nvGraphicFramePr>
          <p:cNvPr id="70" name="Table 1"/>
          <p:cNvGraphicFramePr>
            <a:graphicFrameLocks noGrp="1"/>
          </p:cNvGraphicFramePr>
          <p:nvPr/>
        </p:nvGraphicFramePr>
        <p:xfrm>
          <a:off x="228600" y="1570000"/>
          <a:ext cx="8686800" cy="2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000000"/>
                <a:gridCol w="2143400"/>
                <a:gridCol w="2143400"/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Application Name</a:t>
                      </a:r>
                    </a:p>
                  </a:txBody>
                  <a:tcPr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Column 3</a:t>
                      </a:r>
                    </a:p>
                  </a:txBody>
                  <a:tcPr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Column 4</a:t>
                      </a:r>
                    </a:p>
                  </a:txBody>
                  <a:tcPr>
                    <a:solidFill>
                      <a:srgbClr val="D71E2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PII / PCI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1E7B34"/>
                          </a:solidFill>
                          <a:latin typeface="Calibri" pitchFamily="34" charset="0"/>
                        </a:rPr>
                        <a:t>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PDiLL Certification Automation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1" dirty="0">
                          <a:solidFill>
                            <a:srgbClr val="B8500A"/>
                          </a:solidFill>
                          <a:latin typeface="Calibri" pitchFamily="34" charset="0"/>
                        </a:rPr>
                        <a:t>Pilot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Application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0" dirty="0">
                          <a:solidFill>
                            <a:srgbClr val="7A7A7A"/>
                          </a:solidFill>
                          <a:latin typeface="Calibri" pitchFamily="34" charset="0"/>
                        </a:rPr>
                        <a:t>Yet to be reached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Application 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0" dirty="0">
                          <a:solidFill>
                            <a:srgbClr val="7A7A7A"/>
                          </a:solidFill>
                          <a:latin typeface="Calibri" pitchFamily="34" charset="0"/>
                        </a:rPr>
                        <a:t>Yet to be reached out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Application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0" dirty="0">
                          <a:solidFill>
                            <a:srgbClr val="7A7A7A"/>
                          </a:solidFill>
                          <a:latin typeface="Calibri" pitchFamily="34" charset="0"/>
                        </a:rPr>
                        <a:t>Yet to be reached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91440">
                        <a:buNone/>
                      </a:pPr>
                      <a:r>
                        <a:rPr lang="en-US" sz="950" b="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Application 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b="0" dirty="0">
                          <a:solidFill>
                            <a:srgbClr val="7A7A7A"/>
                          </a:solidFill>
                          <a:latin typeface="Calibri" pitchFamily="34" charset="0"/>
                        </a:rPr>
                        <a:t>Yet to be reached out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/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9" name="Shape 39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FDECEA"/>
          </a:solidFill>
          <a:ln w="12700">
            <a:solidFill>
              <a:srgbClr val="E8DCD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0" y="4636008"/>
            <a:ext cx="9144000" cy="4114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30352" y="4663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141C"/>
                </a:solidFill>
                <a:latin typeface="Calibri" pitchFamily="34" charset="0"/>
              </a:rPr>
              <a:t xml:space="preserve">CIO Automation Rollout Tracker 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</a:rPr>
              <a:t>|  2 of 6 opportunities completed  |  Next: Continue roll out for other CIO groups</a:t>
            </a:r>
          </a:p>
        </p:txBody>
      </p:sp>
      <p:sp>
        <p:nvSpPr>
          <p:cNvPr id="53" name="Text 42"/>
          <p:cNvSpPr/>
          <p:nvPr/>
        </p:nvSpPr>
        <p:spPr>
          <a:xfrm>
            <a:off x="274320" y="5093208"/>
            <a:ext cx="859536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</a:rPr>
              <a:t>Internal Use Only  |  Wells Fargo  |  PDILL | IAM | CVP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CCC44"/>
          </a:solidFill>
          <a:ln w="12700">
            <a:solidFill>
              <a:srgbClr val="FCCC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Summary: PII / PCI Detection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  |  Shift-Left Approach  |  CI/CD Pipeline Enforcement  |  Agent-Driven Remediation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115568"/>
            <a:ext cx="50292" cy="102412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20700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10896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0896" y="14538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Scope: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0896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Issue: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PII/PCI scan — ~6 hrs/ticket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10896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Gap: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enforcement; late-stage detection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414016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14016" y="1115568"/>
            <a:ext cx="50292" cy="1024128"/>
          </a:xfrm>
          <a:prstGeom prst="rect">
            <a:avLst/>
          </a:prstGeom>
          <a:solidFill>
            <a:srgbClr val="A3141C"/>
          </a:solidFill>
          <a:ln w="12700">
            <a:solidFill>
              <a:srgbClr val="A3141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20700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98064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523744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523744" y="14538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Detection: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ULM-assisted code &amp; log scanning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523744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soft gate enforcement deployed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2523744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Coverage: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 findings processed (Nov–Dec 2025)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626864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26864" y="1115568"/>
            <a:ext cx="50292" cy="102412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207008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10912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736592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36592" y="1453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effort reduction  (6h → 2h/ticket)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736592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Ticket reduction: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fewer manual tickets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36592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FTE unlocked: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 (~1,600 hrs/month freed)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839712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39712" y="1115568"/>
            <a:ext cx="50292" cy="1024128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07008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Saved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949440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49440" y="1453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~$320K / year saved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6949440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Basis: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FTE × ~$32K/yr fully loaded cost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949440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 × 2 resources  (one-time only)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201168" y="2249424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01168" y="2249424"/>
            <a:ext cx="50292" cy="246888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47472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Ticket  (Hours)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1005840" y="2706624"/>
            <a:ext cx="3072384" cy="256032"/>
          </a:xfrm>
          <a:prstGeom prst="roundRect">
            <a:avLst>
              <a:gd name="adj" fmla="val 14286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74320" y="27066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4142232" y="2706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1005840" y="3072384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274320" y="30723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2093976" y="30723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005840" y="340156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reduction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310896" y="3712464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FFF5CC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20624" y="3730752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~4 hrs saved/ticket  |  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FTE unlocked  |  ~1,600 hrs/month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310896" y="4242816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20624" y="4261104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Annualised savings: </a:t>
            </a:r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~$320K/year  |  Build ROI achieved within weeks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4645152" y="2249424"/>
            <a:ext cx="42976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4645152" y="2249424"/>
            <a:ext cx="50292" cy="1133856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773168" y="2304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 ROI</a:t>
            </a:r>
            <a:endParaRPr lang="en-US" sz="1050" dirty="0"/>
          </a:p>
        </p:txBody>
      </p:sp>
      <p:sp>
        <p:nvSpPr>
          <p:cNvPr id="56" name="Text 49"/>
          <p:cNvSpPr/>
          <p:nvPr/>
        </p:nvSpPr>
        <p:spPr>
          <a:xfrm>
            <a:off x="4773168" y="2578608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 total (one-time investment)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4773168" y="2770632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Resourcing: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 × ~1 month each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4773168" y="2962656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Payback: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ROI achieved within weeks of deployment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4773168" y="3154680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Annual ROI: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~$320K recurring savings vs. minimal run cost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4645152" y="3474720"/>
            <a:ext cx="429768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4645152" y="3474720"/>
            <a:ext cx="50292" cy="1243584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4773168" y="3529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4773168" y="3813048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4937760" y="379476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detection prevents PII/PCI leaks reaching production</a:t>
            </a:r>
            <a:endParaRPr lang="en-US" sz="850" dirty="0"/>
          </a:p>
        </p:txBody>
      </p:sp>
      <p:sp>
        <p:nvSpPr>
          <p:cNvPr id="65" name="Shape 58"/>
          <p:cNvSpPr/>
          <p:nvPr/>
        </p:nvSpPr>
        <p:spPr>
          <a:xfrm>
            <a:off x="4773168" y="3986784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4937760" y="3968496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reduction in manual JIRA ticket investigation effort</a:t>
            </a:r>
            <a:endParaRPr lang="en-US" sz="850" dirty="0"/>
          </a:p>
        </p:txBody>
      </p:sp>
      <p:sp>
        <p:nvSpPr>
          <p:cNvPr id="67" name="Shape 60"/>
          <p:cNvSpPr/>
          <p:nvPr/>
        </p:nvSpPr>
        <p:spPr>
          <a:xfrm>
            <a:off x="4773168" y="4160520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4937760" y="4142232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 enforcement ensures every code commit is scanned</a:t>
            </a:r>
            <a:endParaRPr lang="en-US" sz="850" dirty="0"/>
          </a:p>
        </p:txBody>
      </p:sp>
      <p:sp>
        <p:nvSpPr>
          <p:cNvPr id="69" name="Shape 62"/>
          <p:cNvSpPr/>
          <p:nvPr/>
        </p:nvSpPr>
        <p:spPr>
          <a:xfrm>
            <a:off x="4773168" y="4334256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4937760" y="4315968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Agent-driven auto-PR closes the detect-to-fix loop autonomously</a:t>
            </a:r>
            <a:endParaRPr lang="en-US" sz="850" dirty="0"/>
          </a:p>
        </p:txBody>
      </p:sp>
      <p:sp>
        <p:nvSpPr>
          <p:cNvPr id="71" name="Shape 64"/>
          <p:cNvSpPr/>
          <p:nvPr/>
        </p:nvSpPr>
        <p:spPr>
          <a:xfrm>
            <a:off x="4773168" y="4507992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4937760" y="4489704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compliance posture across all CT Sub-LOBs</a:t>
            </a:r>
            <a:endParaRPr lang="en-US" sz="850" dirty="0"/>
          </a:p>
        </p:txBody>
      </p:sp>
      <p:sp>
        <p:nvSpPr>
          <p:cNvPr id="73" name="Shape 66"/>
          <p:cNvSpPr/>
          <p:nvPr/>
        </p:nvSpPr>
        <p:spPr>
          <a:xfrm>
            <a:off x="201168" y="4791456"/>
            <a:ext cx="8741664" cy="0"/>
          </a:xfrm>
          <a:prstGeom prst="roundRect">
            <a:avLst>
              <a:gd name="adj" fmla="val Infinity"/>
            </a:avLst>
          </a:prstGeom>
          <a:solidFill>
            <a:srgbClr val="FDECEA"/>
          </a:solidFill>
          <a:ln w="12700">
            <a:solidFill>
              <a:srgbClr val="F5CACA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|  PII/PCI Automation  |  QA Engineering  |  Benefit Realization Snapshot  |  June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FCCC44"/>
          </a:solidFill>
          <a:ln w="12700">
            <a:solidFill>
              <a:srgbClr val="FCCC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46304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Summary: PDiLL Certification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  |  Delphix Log Extraction  |  In Progress: 3 Applications  |  CSBB &amp; AUTO Data Teams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115568"/>
            <a:ext cx="50292" cy="1024128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20700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10896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0896" y="14538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Scope: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– All Sub-LOBs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0896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Issue: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PDiLL cert takes 40–60 hrs/app/env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10896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Gap: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Delphix logs; no standardization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414016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14016" y="1115568"/>
            <a:ext cx="50292" cy="1024128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20700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98064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523744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523744" y="14538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Approach: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Delphix log extraction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523744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Progress: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applications in progress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2523744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Teams: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CSBB &amp; AUTO Data onboarded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626864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26864" y="1115568"/>
            <a:ext cx="50292" cy="1024128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207008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10912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736592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36592" y="1453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effort reduction  (50h → 9h/env)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736592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Tickets (CT 2025):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automated &amp; standardized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36592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Consistency: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generated org-wide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839712" y="1115568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39712" y="1115568"/>
            <a:ext cx="50292" cy="102412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07008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23760" y="11795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Saved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949440" y="1426464"/>
            <a:ext cx="192024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49440" y="1453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~$180K / year saved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6949440" y="162763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Basis: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tickets × ~4h saved × $110/hr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949440" y="1801368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Build: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month × 2 resources  (one-time only)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164592" y="2249424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64592" y="2249424"/>
            <a:ext cx="50292" cy="118872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292608" y="23042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292608" y="2569464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57200" y="2551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certification effort by 80%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292608" y="2770632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57200" y="2752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audit cycles — weeks instead of months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292608" y="2971800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57200" y="29535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 generated consistently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292608" y="3172968"/>
            <a:ext cx="100584" cy="10058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5720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risk &amp; compliance exposure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164592" y="3529584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8DCDC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164592" y="3529584"/>
            <a:ext cx="50292" cy="118872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292608" y="35844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Roadmap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292608" y="3849624"/>
            <a:ext cx="100584" cy="100584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57200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certification to all CT &amp; other LOBs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292608" y="4050792"/>
            <a:ext cx="100584" cy="100584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57200" y="4032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automation for remaining databases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292608" y="4251960"/>
            <a:ext cx="100584" cy="100584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457200" y="4233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tool from Non-Prod to Production</a:t>
            </a:r>
            <a:endParaRPr lang="en-US" sz="850" dirty="0"/>
          </a:p>
        </p:txBody>
      </p:sp>
      <p:sp>
        <p:nvSpPr>
          <p:cNvPr id="59" name="Shape 52"/>
          <p:cNvSpPr/>
          <p:nvPr/>
        </p:nvSpPr>
        <p:spPr>
          <a:xfrm>
            <a:off x="292608" y="4453128"/>
            <a:ext cx="100584" cy="100584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457200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absorb growing Q3/Q4 ticket volume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3090672" y="2249424"/>
            <a:ext cx="5888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PDILL Annual Sustainment Review — Metric Breakdown by Reviewer (2025)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90672" y="2505456"/>
          <a:ext cx="5888736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30352"/>
                <a:gridCol w="585216"/>
                <a:gridCol w="438912"/>
                <a:gridCol w="640080"/>
                <a:gridCol w="512064"/>
                <a:gridCol w="585216"/>
                <a:gridCol w="493776"/>
                <a:gridCol w="65836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V.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Heather B.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F.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Kristina 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Lipsa 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Shawna B.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Sumit 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E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(CT)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Saved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$14.5K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314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C44"/>
                    </a:solidFill>
                  </a:tcPr>
                </a:tc>
              </a:tr>
            </a:tbl>
          </a:graphicData>
        </a:graphic>
      </p:graphicFrame>
      <p:sp>
        <p:nvSpPr>
          <p:cNvPr id="63" name="Text 55"/>
          <p:cNvSpPr/>
          <p:nvPr/>
        </p:nvSpPr>
        <p:spPr>
          <a:xfrm>
            <a:off x="3090672" y="3474720"/>
            <a:ext cx="5888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JIRA Ticket Volume Growth  (Grand Total)</a:t>
            </a:r>
            <a:endParaRPr lang="en-US" sz="950" dirty="0"/>
          </a:p>
        </p:txBody>
      </p:sp>
      <p:sp>
        <p:nvSpPr>
          <p:cNvPr id="65" name="Shape 5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274320" y="484632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  |  PDiLL Certification Automation  |  CSBB &amp; AUTO Data Teams  |  Non-Production Only  |  Benefit Realization Snapshot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– Benefit Realization | PDILL | IAM | CVP</dc:title>
  <dc:subject>PptxGenJS Presentation</dc:subject>
  <dc:creator>PptxGenJS</dc:creator>
  <cp:lastModifiedBy>PptxGenJS</cp:lastModifiedBy>
  <cp:revision>1</cp:revision>
  <dcterms:created xsi:type="dcterms:W3CDTF">2026-06-10T11:15:58Z</dcterms:created>
  <dcterms:modified xsi:type="dcterms:W3CDTF">2026-06-10T11:15:58Z</dcterms:modified>
</cp:coreProperties>
</file>